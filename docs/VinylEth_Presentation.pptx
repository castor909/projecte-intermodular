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E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0"/>
            <a:ext cx="8229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 i="0">
                <a:solidFill>
                  <a:srgbClr val="D4622A"/>
                </a:solidFill>
                <a:latin typeface="Calibri"/>
              </a:rPr>
              <a:t>VinylEth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2834640"/>
            <a:ext cx="6858000" cy="16459"/>
          </a:xfrm>
          <a:prstGeom prst="rect">
            <a:avLst/>
          </a:prstGeom>
          <a:solidFill>
            <a:srgbClr val="F2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97180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2ECE0"/>
                </a:solidFill>
                <a:latin typeface="Calibri"/>
              </a:rPr>
              <a:t>Informe Final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703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9A88"/>
                </a:solidFill>
                <a:latin typeface="Calibri"/>
              </a:rPr>
              <a:t>Projecte Intermodular UD3  ·  CIFP Francesc de Borja Moll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2ECE0"/>
                </a:solidFill>
                <a:latin typeface="Calibri"/>
              </a:rPr>
              <a:t>Stepan Andreev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257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9A88"/>
                </a:solidFill>
                <a:latin typeface="Calibri"/>
              </a:rPr>
              <a:t>Junio 2026  ·  github.com/Castor909/projecte-intermodular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1371600"/>
            <a:ext cx="3017520" cy="1005840"/>
          </a:xfrm>
          <a:prstGeom prst="rect">
            <a:avLst/>
          </a:prstGeom>
          <a:solidFill>
            <a:srgbClr val="2A1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0" y="1371600"/>
            <a:ext cx="182880" cy="100584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0" y="14447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9A88"/>
                </a:solidFill>
                <a:latin typeface="Calibri"/>
              </a:rPr>
              <a:t>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ECE0"/>
                </a:solidFill>
                <a:latin typeface="Calibri"/>
              </a:rPr>
              <a:t>MERN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2560320"/>
            <a:ext cx="3017520" cy="1005840"/>
          </a:xfrm>
          <a:prstGeom prst="rect">
            <a:avLst/>
          </a:prstGeom>
          <a:solidFill>
            <a:srgbClr val="2A1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2560320"/>
            <a:ext cx="182880" cy="100584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2633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9A88"/>
                </a:solidFill>
                <a:latin typeface="Calibri"/>
              </a:rPr>
              <a:t>Pagos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ECE0"/>
                </a:solidFill>
                <a:latin typeface="Calibri"/>
              </a:rPr>
              <a:t>Ethereum / MetaMask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3749039"/>
            <a:ext cx="3017520" cy="1005840"/>
          </a:xfrm>
          <a:prstGeom prst="rect">
            <a:avLst/>
          </a:prstGeom>
          <a:solidFill>
            <a:srgbClr val="2A1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3749039"/>
            <a:ext cx="182880" cy="100584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3822191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9A88"/>
                </a:solidFill>
                <a:latin typeface="Calibri"/>
              </a:rPr>
              <a:t>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ECE0"/>
                </a:solidFill>
                <a:latin typeface="Calibri"/>
              </a:rPr>
              <a:t>Sepolia testnet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4937760"/>
            <a:ext cx="3017520" cy="1005840"/>
          </a:xfrm>
          <a:prstGeom prst="rect">
            <a:avLst/>
          </a:prstGeom>
          <a:solidFill>
            <a:srgbClr val="2A1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4937760"/>
            <a:ext cx="182880" cy="100584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50109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9A88"/>
                </a:solidFill>
                <a:latin typeface="Calibri"/>
              </a:rPr>
              <a:t>APIs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5394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ECE0"/>
                </a:solidFill>
                <a:latin typeface="Calibri"/>
              </a:rPr>
              <a:t>Discogs · iTunes · Resend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E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D4622A"/>
                </a:solidFill>
                <a:latin typeface="Calibri"/>
              </a:rPr>
              <a:t>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612880" cy="2286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2ECE0"/>
                </a:solidFill>
                <a:latin typeface="Calibri"/>
              </a:rPr>
              <a:t>VinylEth es una tienda online de vinilos donde los clientes pagan con Ethereum a traves de MetaMask, sin necesidad de procesadores de pago tradicionales.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423160"/>
            <a:ext cx="5760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F2ECE0"/>
                </a:solidFill>
                <a:latin typeface="Calibri"/>
              </a:rPr>
              <a:t>▸  El vinilo ha vuelto: 45 millones de discos vendidos en 2023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F2ECE0"/>
                </a:solidFill>
                <a:latin typeface="Calibri"/>
              </a:rPr>
              <a:t>▸  Nicho objetivo: amantes del vinilo + usuarios Web3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F2ECE0"/>
                </a:solidFill>
                <a:latin typeface="Calibri"/>
              </a:rPr>
              <a:t>▸  Privacidad: sin tarjetas de credito, sin bancos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F2ECE0"/>
                </a:solidFill>
                <a:latin typeface="Calibri"/>
              </a:rPr>
              <a:t>▸  Flujo e-commerce completo: catalogo → carrito → pago crypto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F2ECE0"/>
                </a:solidFill>
                <a:latin typeface="Calibri"/>
              </a:rPr>
              <a:t>▸  Transaccion real en la red de pruebas Sepolia</a:t>
            </a:r>
          </a:p>
        </p:txBody>
      </p:sp>
      <p:pic>
        <p:nvPicPr>
          <p:cNvPr id="7" name="Picture 6" descr="featured_album_and_special_off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051560"/>
            <a:ext cx="5669280" cy="31742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E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D4622A"/>
                </a:solidFill>
                <a:latin typeface="Calibri"/>
              </a:rPr>
              <a:t>Tecnologias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612880" cy="2286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5669280" cy="1170432"/>
          </a:xfrm>
          <a:prstGeom prst="rect">
            <a:avLst/>
          </a:prstGeom>
          <a:solidFill>
            <a:srgbClr val="2A1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201168" cy="1170432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43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ECE0"/>
                </a:solidFill>
                <a:latin typeface="Calibri"/>
              </a:rPr>
              <a:t>React 19  +  React Router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6459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9A88"/>
                </a:solidFill>
                <a:latin typeface="Calibri"/>
              </a:rPr>
              <a:t>SPA frontend (Vite)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51560"/>
            <a:ext cx="5669280" cy="1170432"/>
          </a:xfrm>
          <a:prstGeom prst="rect">
            <a:avLst/>
          </a:prstGeom>
          <a:solidFill>
            <a:srgbClr val="2A1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51560"/>
            <a:ext cx="201168" cy="1170432"/>
          </a:xfrm>
          <a:prstGeom prst="rect">
            <a:avLst/>
          </a:prstGeom>
          <a:solidFill>
            <a:srgbClr val="E88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143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ECE0"/>
                </a:solidFill>
                <a:latin typeface="Calibri"/>
              </a:rPr>
              <a:t>Node.js  +  Express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6459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9A88"/>
                </a:solidFill>
                <a:latin typeface="Calibri"/>
              </a:rPr>
              <a:t>API REST 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5669280" cy="1170432"/>
          </a:xfrm>
          <a:prstGeom prst="rect">
            <a:avLst/>
          </a:prstGeom>
          <a:solidFill>
            <a:srgbClr val="2A1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201168" cy="1170432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4688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ECE0"/>
                </a:solidFill>
                <a:latin typeface="Calibri"/>
              </a:rPr>
              <a:t>MongoDB  +  Mongoose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97179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9A88"/>
                </a:solidFill>
                <a:latin typeface="Calibri"/>
              </a:rPr>
              <a:t>Base de datos NoSQL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377439"/>
            <a:ext cx="5669280" cy="1170432"/>
          </a:xfrm>
          <a:prstGeom prst="rect">
            <a:avLst/>
          </a:prstGeom>
          <a:solidFill>
            <a:srgbClr val="2A1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377439"/>
            <a:ext cx="201168" cy="1170432"/>
          </a:xfrm>
          <a:prstGeom prst="rect">
            <a:avLst/>
          </a:prstGeom>
          <a:solidFill>
            <a:srgbClr val="E88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24688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ECE0"/>
                </a:solidFill>
                <a:latin typeface="Calibri"/>
              </a:rPr>
              <a:t>JWT  +  bcrypt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97179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9A88"/>
                </a:solidFill>
                <a:latin typeface="Calibri"/>
              </a:rPr>
              <a:t>Autenticacion stateless · hash contrasenas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03320"/>
            <a:ext cx="5669280" cy="1170432"/>
          </a:xfrm>
          <a:prstGeom prst="rect">
            <a:avLst/>
          </a:prstGeom>
          <a:solidFill>
            <a:srgbClr val="2A1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703320"/>
            <a:ext cx="201168" cy="1170432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379475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ECE0"/>
                </a:solidFill>
                <a:latin typeface="Calibri"/>
              </a:rPr>
              <a:t>MetaMask  (window.ethereum)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2976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9A88"/>
                </a:solidFill>
                <a:latin typeface="Calibri"/>
              </a:rPr>
              <a:t>Pagos Ethereum — sin librerias extra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703320"/>
            <a:ext cx="5669280" cy="1170432"/>
          </a:xfrm>
          <a:prstGeom prst="rect">
            <a:avLst/>
          </a:prstGeom>
          <a:solidFill>
            <a:srgbClr val="2A1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703320"/>
            <a:ext cx="201168" cy="1170432"/>
          </a:xfrm>
          <a:prstGeom prst="rect">
            <a:avLst/>
          </a:prstGeom>
          <a:solidFill>
            <a:srgbClr val="E88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379475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ECE0"/>
                </a:solidFill>
                <a:latin typeface="Calibri"/>
              </a:rPr>
              <a:t>Discogs API  +  iTunes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42976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9A88"/>
                </a:solidFill>
                <a:latin typeface="Calibri"/>
              </a:rPr>
              <a:t>Metadatos de albumes · previews de audio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029200"/>
            <a:ext cx="5669280" cy="1170432"/>
          </a:xfrm>
          <a:prstGeom prst="rect">
            <a:avLst/>
          </a:prstGeom>
          <a:solidFill>
            <a:srgbClr val="2A1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5029200"/>
            <a:ext cx="201168" cy="1170432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5120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ECE0"/>
                </a:solidFill>
                <a:latin typeface="Calibri"/>
              </a:rPr>
              <a:t>Resend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56235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9A88"/>
                </a:solidFill>
                <a:latin typeface="Calibri"/>
              </a:rPr>
              <a:t>Recibos de pedido por correo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5029200"/>
            <a:ext cx="5669280" cy="1170432"/>
          </a:xfrm>
          <a:prstGeom prst="rect">
            <a:avLst/>
          </a:prstGeom>
          <a:solidFill>
            <a:srgbClr val="2A1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5029200"/>
            <a:ext cx="201168" cy="1170432"/>
          </a:xfrm>
          <a:prstGeom prst="rect">
            <a:avLst/>
          </a:prstGeom>
          <a:solidFill>
            <a:srgbClr val="E88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01968" y="5120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ECE0"/>
                </a:solidFill>
                <a:latin typeface="Calibri"/>
              </a:rPr>
              <a:t>PWA Manifest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1968" y="56235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9A88"/>
                </a:solidFill>
                <a:latin typeface="Calibri"/>
              </a:rPr>
              <a:t>Instalable en movil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E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D4622A"/>
                </a:solidFill>
                <a:latin typeface="Calibri"/>
              </a:rPr>
              <a:t>Arquitectura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612880" cy="2286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11521440" cy="51257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E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D4622A"/>
                </a:solidFill>
                <a:latin typeface="Calibri"/>
              </a:rPr>
              <a:t>Catalogo y Navegacion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612880" cy="2286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arch_catalog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132320" cy="40119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14300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F2ECE0"/>
                </a:solidFill>
                <a:latin typeface="Calibri"/>
              </a:rPr>
              <a:t>▸  Busqueda en tiempo real — debounce 250ms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F2ECE0"/>
                </a:solidFill>
                <a:latin typeface="Calibri"/>
              </a:rPr>
              <a:t>▸  Filtro por genero obtenido de la base de datos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F2ECE0"/>
                </a:solidFill>
                <a:latin typeface="Calibri"/>
              </a:rPr>
              <a:t>▸  8 opciones de ordenacion (precio, año, stock...)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F2ECE0"/>
                </a:solidFill>
                <a:latin typeface="Calibri"/>
              </a:rPr>
              <a:t>▸  Paginacion con boton Cargar mas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F2ECE0"/>
                </a:solidFill>
                <a:latin typeface="Calibri"/>
              </a:rPr>
              <a:t>▸  Badges de stock — Sin stock / Ultimas copias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F2ECE0"/>
                </a:solidFill>
                <a:latin typeface="Calibri"/>
              </a:rPr>
              <a:t>▸  Skeleton loading cards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F2ECE0"/>
                </a:solidFill>
                <a:latin typeface="Calibri"/>
              </a:rPr>
              <a:t>▸  Vistos recientemente (localStorage)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E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D4622A"/>
                </a:solidFill>
                <a:latin typeface="Calibri"/>
              </a:rPr>
              <a:t>Detalle de Album y Vista Previa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612880" cy="2286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lbum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132320" cy="40371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14300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F2ECE0"/>
                </a:solidFill>
                <a:latin typeface="Calibri"/>
              </a:rPr>
              <a:t>▸  Metadatos completos (sello, pais, formato)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F2ECE0"/>
                </a:solidFill>
                <a:latin typeface="Calibri"/>
              </a:rPr>
              <a:t>▸  Tracklist con duraciones individuales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F2ECE0"/>
                </a:solidFill>
                <a:latin typeface="Calibri"/>
              </a:rPr>
              <a:t>▸  Reproductor HTML5 personalizado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F2ECE0"/>
                </a:solidFill>
                <a:latin typeface="Calibri"/>
              </a:rPr>
              <a:t>▸    · Play/pausa, barra de progreso, buffering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F2ECE0"/>
                </a:solidFill>
                <a:latin typeface="Calibri"/>
              </a:rPr>
              <a:t>▸    · Preview de 30 segundos via iTunes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F2ECE0"/>
                </a:solidFill>
                <a:latin typeface="Calibri"/>
              </a:rPr>
              <a:t>▸  Albumes similares (mismo genero, 4 items)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F2ECE0"/>
                </a:solidFill>
                <a:latin typeface="Calibri"/>
              </a:rPr>
              <a:t>▸  Anadir al carrito / toggle de lista de deseos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E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D4622A"/>
                </a:solidFill>
                <a:latin typeface="Calibri"/>
              </a:rPr>
              <a:t>Proceso de Pago con MetaMask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612880" cy="2286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yment_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132320" cy="40119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1430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8A50"/>
                </a:solidFill>
                <a:latin typeface="Calibri"/>
              </a:rPr>
              <a:t>Flujo en 3 pasos: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600200"/>
            <a:ext cx="4297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F2ECE0"/>
                </a:solidFill>
                <a:latin typeface="Calibri"/>
              </a:rPr>
              <a:t>→  Carrito  →  Envio  →  Pago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2ECE0"/>
                </a:solidFill>
                <a:latin typeface="Calibri"/>
              </a:rPr>
              <a:t>→  Direccion de envio prellenada desde perfil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2ECE0"/>
                </a:solidFill>
                <a:latin typeface="Calibri"/>
              </a:rPr>
              <a:t>→  Cambio de red a Sepolia (0xaa36a7)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2ECE0"/>
                </a:solidFill>
                <a:latin typeface="Calibri"/>
              </a:rPr>
              <a:t>→  eth_sendTransaction via MetaMask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2ECE0"/>
                </a:solidFill>
                <a:latin typeface="Calibri"/>
              </a:rPr>
              <a:t>→  ETH → Wei con BigInt (sin errores de redondeo)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2ECE0"/>
                </a:solidFill>
                <a:latin typeface="Calibri"/>
              </a:rPr>
              <a:t>→  Hash TX + enlace a Etherscan al confirmar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2ECE0"/>
                </a:solidFill>
                <a:latin typeface="Calibri"/>
              </a:rPr>
              <a:t>→  Pedido guardado en BD  +  recibo por email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2ECE0"/>
                </a:solidFill>
                <a:latin typeface="Calibri"/>
              </a:rPr>
              <a:t>→  Carrito vaciado automaticamente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E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D4622A"/>
                </a:solidFill>
                <a:latin typeface="Calibri"/>
              </a:rPr>
              <a:t>Panel de Administracion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612880" cy="2286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dmi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132320" cy="40119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14300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F2ECE0"/>
                </a:solidFill>
                <a:latin typeface="Calibri"/>
              </a:rPr>
              <a:t>▸  Dashboard: albumes, pedidos, ingresos, top ventas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2ECE0"/>
                </a:solidFill>
                <a:latin typeface="Calibri"/>
              </a:rPr>
              <a:t>▸  CRUD de albumes — formulario completo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2ECE0"/>
                </a:solidFill>
                <a:latin typeface="Calibri"/>
              </a:rPr>
              <a:t>▸  Importacion rapida de Discogs (ID → todos los campos)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2ECE0"/>
                </a:solidFill>
                <a:latin typeface="Calibri"/>
              </a:rPr>
              <a:t>▸  Autorellenado de preview de audio desde iTunes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2ECE0"/>
                </a:solidFill>
                <a:latin typeface="Calibri"/>
              </a:rPr>
              <a:t>▸  Operaciones en lote: descuento %, destacado, eliminar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2ECE0"/>
                </a:solidFill>
                <a:latin typeface="Calibri"/>
              </a:rPr>
              <a:t>▸  Exportacion CSV del catalogo de albumes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2ECE0"/>
                </a:solidFill>
                <a:latin typeface="Calibri"/>
              </a:rPr>
              <a:t>▸  Busqueda de pedidos por hash TX + rango de fechas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2ECE0"/>
                </a:solidFill>
                <a:latin typeface="Calibri"/>
              </a:rPr>
              <a:t>▸  Autenticacion separada por contrasena (x-admin-token)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E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D4622A"/>
                </a:solidFill>
                <a:latin typeface="Calibri"/>
              </a:rPr>
              <a:t>Problemas y Soluciones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612880" cy="2286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612880" cy="1627632"/>
          </a:xfrm>
          <a:prstGeom prst="rect">
            <a:avLst/>
          </a:prstGeom>
          <a:solidFill>
            <a:srgbClr val="2A1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201168" cy="1627632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622A"/>
                </a:solidFill>
                <a:latin typeface="Calibri"/>
              </a:rPr>
              <a:t>MongoDB se bloqueaba con SIGSEGV en la maquina de desarrollo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27631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9A88"/>
                </a:solidFill>
                <a:latin typeface="Calibri"/>
              </a:rPr>
              <a:t>⚠  mongodb-bin 8.2.7 nativo crasheaba al arrancar en Arch Linux.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2ECE0"/>
                </a:solidFill>
                <a:latin typeface="Calibri"/>
              </a:rPr>
              <a:t>✓  Docker mongo:7 — BD estable sin cambios en el codigo.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926080"/>
            <a:ext cx="11612880" cy="1627632"/>
          </a:xfrm>
          <a:prstGeom prst="rect">
            <a:avLst/>
          </a:prstGeom>
          <a:solidFill>
            <a:srgbClr val="2A1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926080"/>
            <a:ext cx="201168" cy="1627632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017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622A"/>
                </a:solidFill>
                <a:latin typeface="Calibri"/>
              </a:rPr>
              <a:t>Perdida de precision al convertir ETH → Wei con coma flotante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564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9A88"/>
                </a:solidFill>
                <a:latin typeface="Calibri"/>
              </a:rPr>
              <a:t>⚠  amount * 1e18 producia errores de redondeo para valores como 0.015 ETH.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86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2ECE0"/>
                </a:solidFill>
                <a:latin typeface="Calibri"/>
              </a:rPr>
              <a:t>✓  Aritmetica BigInt: separar en parte entera y decimal, escalar cada una.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754880"/>
            <a:ext cx="11612880" cy="1627632"/>
          </a:xfrm>
          <a:prstGeom prst="rect">
            <a:avLst/>
          </a:prstGeom>
          <a:solidFill>
            <a:srgbClr val="2A1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4754880"/>
            <a:ext cx="201168" cy="1627632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846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622A"/>
                </a:solidFill>
                <a:latin typeface="Calibri"/>
              </a:rPr>
              <a:t>ESLint: CartContext exportaba provider y hook en el mismo archivo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285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9A88"/>
                </a:solidFill>
                <a:latin typeface="Calibri"/>
              </a:rPr>
              <a:t>⚠  El plugin React fast-refresh rechazaba las exportaciones mixtas.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715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2ECE0"/>
                </a:solidFill>
                <a:latin typeface="Calibri"/>
              </a:rPr>
              <a:t>✓  Separado en useCart.js + cartContextValue.js — mejora tambien la SoC.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E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D4622A"/>
                </a:solidFill>
                <a:latin typeface="Calibri"/>
              </a:rPr>
              <a:t>Evolucion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612880" cy="2286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931920"/>
            <a:ext cx="11612880" cy="4572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622A"/>
                </a:solidFill>
                <a:latin typeface="Calibri"/>
              </a:rPr>
              <a:t>UD1A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88A50"/>
                </a:solidFill>
                <a:latin typeface="Calibri"/>
              </a:rPr>
              <a:t>Configuracion Inicial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67712"/>
            <a:ext cx="2514600" cy="18288"/>
          </a:xfrm>
          <a:prstGeom prst="rect">
            <a:avLst/>
          </a:prstGeom>
          <a:solidFill>
            <a:srgbClr val="2A1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2606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A89A88"/>
                </a:solidFill>
                <a:latin typeface="Calibri"/>
              </a:rPr>
              <a:t>· React + catalogo simulado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A89A88"/>
                </a:solidFill>
                <a:latin typeface="Calibri"/>
              </a:rPr>
              <a:t>· Esqueleto de Express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A89A88"/>
                </a:solidFill>
                <a:latin typeface="Calibri"/>
              </a:rPr>
              <a:t>· Sistema de diseno definido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77339" y="3785615"/>
            <a:ext cx="347472" cy="347472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4251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622A"/>
                </a:solidFill>
                <a:latin typeface="Calibri"/>
              </a:rPr>
              <a:t>UD1A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0515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622A"/>
                </a:solidFill>
                <a:latin typeface="Calibri"/>
              </a:rPr>
              <a:t>UD1B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88A50"/>
                </a:solidFill>
                <a:latin typeface="Calibri"/>
              </a:rPr>
              <a:t>Backend + Carrito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267712"/>
            <a:ext cx="2514600" cy="18288"/>
          </a:xfrm>
          <a:prstGeom prst="rect">
            <a:avLst/>
          </a:prstGeom>
          <a:solidFill>
            <a:srgbClr val="2A1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377440"/>
            <a:ext cx="2606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A89A88"/>
                </a:solidFill>
                <a:latin typeface="Calibri"/>
              </a:rPr>
              <a:t>· MongoDB + modelo Album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A89A88"/>
                </a:solidFill>
                <a:latin typeface="Calibri"/>
              </a:rPr>
              <a:t>· API REST (lista y detalle)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A89A88"/>
                </a:solidFill>
                <a:latin typeface="Calibri"/>
              </a:rPr>
              <a:t>· Carrito con localStorage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7700" y="3785615"/>
            <a:ext cx="347472" cy="347472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4251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622A"/>
                </a:solidFill>
                <a:latin typeface="Calibri"/>
              </a:rPr>
              <a:t>UD1B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10515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622A"/>
                </a:solidFill>
                <a:latin typeface="Calibri"/>
              </a:rPr>
              <a:t>UD2A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59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88A50"/>
                </a:solidFill>
                <a:latin typeface="Calibri"/>
              </a:rPr>
              <a:t>Wallet + Busqueda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267712"/>
            <a:ext cx="2514600" cy="18288"/>
          </a:xfrm>
          <a:prstGeom prst="rect">
            <a:avLst/>
          </a:prstGeom>
          <a:solidFill>
            <a:srgbClr val="2A1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377440"/>
            <a:ext cx="2606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A89A88"/>
                </a:solidFill>
                <a:latin typeface="Calibri"/>
              </a:rPr>
              <a:t>· Conexion MetaMask en header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A89A88"/>
                </a:solidFill>
                <a:latin typeface="Calibri"/>
              </a:rPr>
              <a:t>· Controles de cantidad en carrito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A89A88"/>
                </a:solidFill>
                <a:latin typeface="Calibri"/>
              </a:rPr>
              <a:t>· Busqueda, filtro y orden en catalogo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8060" y="3785615"/>
            <a:ext cx="347472" cy="347472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59" y="4251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622A"/>
                </a:solidFill>
                <a:latin typeface="Calibri"/>
              </a:rPr>
              <a:t>UD2A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19" y="10515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622A"/>
                </a:solidFill>
                <a:latin typeface="Calibri"/>
              </a:rPr>
              <a:t>UD3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19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88A50"/>
                </a:solidFill>
                <a:latin typeface="Calibri"/>
              </a:rPr>
              <a:t>App Completa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2267712"/>
            <a:ext cx="2514600" cy="18288"/>
          </a:xfrm>
          <a:prstGeom prst="rect">
            <a:avLst/>
          </a:prstGeom>
          <a:solidFill>
            <a:srgbClr val="2A1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2377440"/>
            <a:ext cx="2606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A89A88"/>
                </a:solidFill>
                <a:latin typeface="Calibri"/>
              </a:rPr>
              <a:t>· Flujo de pago completo + pedidos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A89A88"/>
                </a:solidFill>
                <a:latin typeface="Calibri"/>
              </a:rPr>
              <a:t>· Auth JWT + panel de admin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A89A88"/>
                </a:solidFill>
                <a:latin typeface="Calibri"/>
              </a:rPr>
              <a:t>· Email, lista de deseos, PWA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18419" y="3785615"/>
            <a:ext cx="347472" cy="347472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19" y="4251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622A"/>
                </a:solidFill>
                <a:latin typeface="Calibri"/>
              </a:rPr>
              <a:t>UD3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E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D4622A"/>
                </a:solidFill>
                <a:latin typeface="Calibri"/>
              </a:rPr>
              <a:t>Logros Obtenidos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612880" cy="2286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2743200" cy="1371600"/>
          </a:xfrm>
          <a:prstGeom prst="rect">
            <a:avLst/>
          </a:prstGeom>
          <a:solidFill>
            <a:srgbClr val="2A1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D4622A"/>
                </a:solidFill>
                <a:latin typeface="Calibri"/>
              </a:rPr>
              <a:t>111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20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89A88"/>
                </a:solidFill>
                <a:latin typeface="Calibri"/>
              </a:rPr>
              <a:t>funcionalidades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97280"/>
            <a:ext cx="2743200" cy="1371600"/>
          </a:xfrm>
          <a:prstGeom prst="rect">
            <a:avLst/>
          </a:prstGeom>
          <a:solidFill>
            <a:srgbClr val="2A1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1430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D4622A"/>
                </a:solidFill>
                <a:latin typeface="Calibr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920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89A88"/>
                </a:solidFill>
                <a:latin typeface="Calibri"/>
              </a:rPr>
              <a:t>endpoints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59" y="1097280"/>
            <a:ext cx="2743200" cy="1371600"/>
          </a:xfrm>
          <a:prstGeom prst="rect">
            <a:avLst/>
          </a:prstGeom>
          <a:solidFill>
            <a:srgbClr val="2A1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59" y="11430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D4622A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1920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89A88"/>
                </a:solidFill>
                <a:latin typeface="Calibri"/>
              </a:rPr>
              <a:t>APIs externas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19" y="1097280"/>
            <a:ext cx="2743200" cy="1371600"/>
          </a:xfrm>
          <a:prstGeom prst="rect">
            <a:avLst/>
          </a:prstGeom>
          <a:solidFill>
            <a:srgbClr val="2A1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19" y="11430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D4622A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19" y="1920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89A88"/>
                </a:solidFill>
                <a:latin typeface="Calibri"/>
              </a:rPr>
              <a:t>fases de desarrollo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2697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8A50"/>
                </a:solidFill>
                <a:latin typeface="Calibri"/>
              </a:rPr>
              <a:t>Entregado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182112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F2ECE0"/>
                </a:solidFill>
                <a:latin typeface="Calibri"/>
              </a:rPr>
              <a:t>▸  Flujo e-commerce completo: catalogo → carrito → pago crypto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F2ECE0"/>
                </a:solidFill>
                <a:latin typeface="Calibri"/>
              </a:rPr>
              <a:t>▸  Pagos Ethereum via MetaMask en la red Sepolia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F2ECE0"/>
                </a:solidFill>
                <a:latin typeface="Calibri"/>
              </a:rPr>
              <a:t>▸  Panel de administracion con importacion desde Discogs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F2ECE0"/>
                </a:solidFill>
                <a:latin typeface="Calibri"/>
              </a:rPr>
              <a:t>▸  Auth JWT, historial de pedidos, recibos por email via Resend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697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8A50"/>
                </a:solidFill>
                <a:latin typeface="Calibri"/>
              </a:rPr>
              <a:t>Mejoras futuras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182112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A89A88"/>
                </a:solidFill>
                <a:latin typeface="Calibri"/>
              </a:rPr>
              <a:t>▸  Contrato Solidity de custodia (proteccion al comprador)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A89A88"/>
                </a:solidFill>
                <a:latin typeface="Calibri"/>
              </a:rPr>
              <a:t>▸  Reserva de stock durante el checkout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A89A88"/>
                </a:solidFill>
                <a:latin typeface="Calibri"/>
              </a:rPr>
              <a:t>▸  Subida de imagenes via Cloudinary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A89A88"/>
                </a:solidFill>
                <a:latin typeface="Calibri"/>
              </a:rPr>
              <a:t>▸  Suite de tests automatizados — Vitest + Jest + Supertest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E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463040"/>
            <a:ext cx="9144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0" b="1" i="0">
                <a:solidFill>
                  <a:srgbClr val="F2ECE0"/>
                </a:solidFill>
                <a:latin typeface="Calibri"/>
              </a:rPr>
              <a:t>Gracias.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3200400"/>
            <a:ext cx="7772400" cy="2286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3832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D4622A"/>
                </a:solidFill>
                <a:latin typeface="Calibri"/>
              </a:rPr>
              <a:t>Preguntas?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89A88"/>
                </a:solidFill>
                <a:latin typeface="Calibri"/>
              </a:rPr>
              <a:t>github.com/Castor909/projecte-intermodular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212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9A88"/>
                </a:solidFill>
                <a:latin typeface="Calibri"/>
              </a:rPr>
              <a:t>Stepan Andreev  ·  Projecte Intermodular UD3  ·  Junio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