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0E0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D4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0"/>
            <a:ext cx="82296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200" b="1" i="0">
                <a:solidFill>
                  <a:srgbClr val="D4622A"/>
                </a:solidFill>
                <a:latin typeface="Calibri"/>
              </a:rPr>
              <a:t>VinylEth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2834640"/>
            <a:ext cx="6858000" cy="16459"/>
          </a:xfrm>
          <a:prstGeom prst="rect">
            <a:avLst/>
          </a:prstGeom>
          <a:solidFill>
            <a:srgbClr val="F2E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2971800"/>
            <a:ext cx="8229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F2ECE0"/>
                </a:solidFill>
                <a:latin typeface="Calibri"/>
              </a:rPr>
              <a:t>Final Project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37033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A89A88"/>
                </a:solidFill>
                <a:latin typeface="Calibri"/>
              </a:rPr>
              <a:t>Intermodular Project UD3  ·  CIFP Francesc de Borja Moll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47548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2ECE0"/>
                </a:solidFill>
                <a:latin typeface="Calibri"/>
              </a:rPr>
              <a:t>Stepan Andreev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5257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89A88"/>
                </a:solidFill>
                <a:latin typeface="Calibri"/>
              </a:rPr>
              <a:t>June 2026  ·  github.com/Castor909/projecte-intermodular</a:t>
            </a:r>
          </a:p>
        </p:txBody>
      </p:sp>
      <p:sp>
        <p:nvSpPr>
          <p:cNvPr id="9" name="Rectangle 8"/>
          <p:cNvSpPr/>
          <p:nvPr/>
        </p:nvSpPr>
        <p:spPr>
          <a:xfrm>
            <a:off x="8961120" y="1371600"/>
            <a:ext cx="3017520" cy="1005840"/>
          </a:xfrm>
          <a:prstGeom prst="rect">
            <a:avLst/>
          </a:prstGeom>
          <a:solidFill>
            <a:srgbClr val="2A17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961120" y="1371600"/>
            <a:ext cx="182880" cy="1005840"/>
          </a:xfrm>
          <a:prstGeom prst="rect">
            <a:avLst/>
          </a:prstGeom>
          <a:solidFill>
            <a:srgbClr val="D4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81160" y="144475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89A88"/>
                </a:solidFill>
                <a:latin typeface="Calibri"/>
              </a:rPr>
              <a:t>Stack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81160" y="18288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2ECE0"/>
                </a:solidFill>
                <a:latin typeface="Calibri"/>
              </a:rPr>
              <a:t>MERN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961120" y="2560320"/>
            <a:ext cx="3017520" cy="1005840"/>
          </a:xfrm>
          <a:prstGeom prst="rect">
            <a:avLst/>
          </a:prstGeom>
          <a:solidFill>
            <a:srgbClr val="2A17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961120" y="2560320"/>
            <a:ext cx="182880" cy="1005840"/>
          </a:xfrm>
          <a:prstGeom prst="rect">
            <a:avLst/>
          </a:prstGeom>
          <a:solidFill>
            <a:srgbClr val="D4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81160" y="263347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89A88"/>
                </a:solidFill>
                <a:latin typeface="Calibri"/>
              </a:rPr>
              <a:t>Payments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81160" y="30175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2ECE0"/>
                </a:solidFill>
                <a:latin typeface="Calibri"/>
              </a:rPr>
              <a:t>Ethereum / MetaMask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20" y="3749039"/>
            <a:ext cx="3017520" cy="1005840"/>
          </a:xfrm>
          <a:prstGeom prst="rect">
            <a:avLst/>
          </a:prstGeom>
          <a:solidFill>
            <a:srgbClr val="2A17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61120" y="3749039"/>
            <a:ext cx="182880" cy="1005840"/>
          </a:xfrm>
          <a:prstGeom prst="rect">
            <a:avLst/>
          </a:prstGeom>
          <a:solidFill>
            <a:srgbClr val="D4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81160" y="3822191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89A88"/>
                </a:solidFill>
                <a:latin typeface="Calibri"/>
              </a:rPr>
              <a:t>Network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81160" y="42062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2ECE0"/>
                </a:solidFill>
                <a:latin typeface="Calibri"/>
              </a:rPr>
              <a:t>Sepolia testnet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61120" y="4937760"/>
            <a:ext cx="3017520" cy="1005840"/>
          </a:xfrm>
          <a:prstGeom prst="rect">
            <a:avLst/>
          </a:prstGeom>
          <a:solidFill>
            <a:srgbClr val="2A17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61120" y="4937760"/>
            <a:ext cx="182880" cy="1005840"/>
          </a:xfrm>
          <a:prstGeom prst="rect">
            <a:avLst/>
          </a:prstGeom>
          <a:solidFill>
            <a:srgbClr val="D4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81160" y="501091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89A88"/>
                </a:solidFill>
                <a:latin typeface="Calibri"/>
              </a:rPr>
              <a:t>APIs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81160" y="53949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2ECE0"/>
                </a:solidFill>
                <a:latin typeface="Calibri"/>
              </a:rPr>
              <a:t>Discogs · iTunes · Resend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0E0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D4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11430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D4622A"/>
                </a:solidFill>
                <a:latin typeface="Calibri"/>
              </a:rPr>
              <a:t>The Project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914400"/>
            <a:ext cx="11612880" cy="22860"/>
          </a:xfrm>
          <a:prstGeom prst="rect">
            <a:avLst/>
          </a:prstGeom>
          <a:solidFill>
            <a:srgbClr val="D4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097280"/>
            <a:ext cx="5760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F2ECE0"/>
                </a:solidFill>
                <a:latin typeface="Calibri"/>
              </a:rPr>
              <a:t>VinylEth is an online vinyl record store where customers pay with Ethereum through MetaMask — no traditional payment processor required.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2423160"/>
            <a:ext cx="5760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700">
                <a:solidFill>
                  <a:srgbClr val="F2ECE0"/>
                </a:solidFill>
                <a:latin typeface="Calibri"/>
              </a:rPr>
              <a:t>▸  Vinyl revival: 45M records sold in 2023</a:t>
            </a:r>
          </a:p>
          <a:p>
            <a:pPr>
              <a:spcAft>
                <a:spcPts val="500"/>
              </a:spcAft>
            </a:pPr>
            <a:r>
              <a:rPr sz="1700">
                <a:solidFill>
                  <a:srgbClr val="F2ECE0"/>
                </a:solidFill>
                <a:latin typeface="Calibri"/>
              </a:rPr>
              <a:t>▸  Target niche: vinyl fans + Web3 users</a:t>
            </a:r>
          </a:p>
          <a:p>
            <a:pPr>
              <a:spcAft>
                <a:spcPts val="500"/>
              </a:spcAft>
            </a:pPr>
            <a:r>
              <a:rPr sz="1700">
                <a:solidFill>
                  <a:srgbClr val="F2ECE0"/>
                </a:solidFill>
                <a:latin typeface="Calibri"/>
              </a:rPr>
              <a:t>▸  Privacy-first: no credit cards, no banks</a:t>
            </a:r>
          </a:p>
          <a:p>
            <a:pPr>
              <a:spcAft>
                <a:spcPts val="500"/>
              </a:spcAft>
            </a:pPr>
            <a:r>
              <a:rPr sz="1700">
                <a:solidFill>
                  <a:srgbClr val="F2ECE0"/>
                </a:solidFill>
                <a:latin typeface="Calibri"/>
              </a:rPr>
              <a:t>▸  Full e-commerce flow: browse → cart → crypto payment</a:t>
            </a:r>
          </a:p>
          <a:p>
            <a:pPr>
              <a:spcAft>
                <a:spcPts val="500"/>
              </a:spcAft>
            </a:pPr>
            <a:r>
              <a:rPr sz="1700">
                <a:solidFill>
                  <a:srgbClr val="F2ECE0"/>
                </a:solidFill>
                <a:latin typeface="Calibri"/>
              </a:rPr>
              <a:t>▸  Real on-chain transaction on Sepolia testnet</a:t>
            </a:r>
          </a:p>
        </p:txBody>
      </p:sp>
      <p:pic>
        <p:nvPicPr>
          <p:cNvPr id="7" name="Picture 6" descr="featured_album_and_special_off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051560"/>
            <a:ext cx="5669280" cy="317420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0E0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D4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11430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D4622A"/>
                </a:solidFill>
                <a:latin typeface="Calibri"/>
              </a:rPr>
              <a:t>Tech Stack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914400"/>
            <a:ext cx="11612880" cy="22860"/>
          </a:xfrm>
          <a:prstGeom prst="rect">
            <a:avLst/>
          </a:prstGeom>
          <a:solidFill>
            <a:srgbClr val="D4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51560"/>
            <a:ext cx="5669280" cy="1170432"/>
          </a:xfrm>
          <a:prstGeom prst="rect">
            <a:avLst/>
          </a:prstGeom>
          <a:solidFill>
            <a:srgbClr val="2A17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051560"/>
            <a:ext cx="201168" cy="1170432"/>
          </a:xfrm>
          <a:prstGeom prst="rect">
            <a:avLst/>
          </a:prstGeom>
          <a:solidFill>
            <a:srgbClr val="D4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14300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2ECE0"/>
                </a:solidFill>
                <a:latin typeface="Calibri"/>
              </a:rPr>
              <a:t>React 19  +  React Router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1645919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89A88"/>
                </a:solidFill>
                <a:latin typeface="Calibri"/>
              </a:rPr>
              <a:t>Frontend SPA (Vite build tool)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051560"/>
            <a:ext cx="5669280" cy="1170432"/>
          </a:xfrm>
          <a:prstGeom prst="rect">
            <a:avLst/>
          </a:prstGeom>
          <a:solidFill>
            <a:srgbClr val="2A17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051560"/>
            <a:ext cx="201168" cy="1170432"/>
          </a:xfrm>
          <a:prstGeom prst="rect">
            <a:avLst/>
          </a:prstGeom>
          <a:solidFill>
            <a:srgbClr val="E88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01968" y="114300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2ECE0"/>
                </a:solidFill>
                <a:latin typeface="Calibri"/>
              </a:rPr>
              <a:t>Node.js  +  Express 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01968" y="1645919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89A88"/>
                </a:solidFill>
                <a:latin typeface="Calibri"/>
              </a:rPr>
              <a:t>REST API backend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2377439"/>
            <a:ext cx="5669280" cy="1170432"/>
          </a:xfrm>
          <a:prstGeom prst="rect">
            <a:avLst/>
          </a:prstGeom>
          <a:solidFill>
            <a:srgbClr val="2A17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0040" y="2377439"/>
            <a:ext cx="201168" cy="1170432"/>
          </a:xfrm>
          <a:prstGeom prst="rect">
            <a:avLst/>
          </a:prstGeom>
          <a:solidFill>
            <a:srgbClr val="D4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088" y="2468879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2ECE0"/>
                </a:solidFill>
                <a:latin typeface="Calibri"/>
              </a:rPr>
              <a:t>MongoDB  +  Mongoose 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" y="2971799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89A88"/>
                </a:solidFill>
                <a:latin typeface="Calibri"/>
              </a:rPr>
              <a:t>NoSQL document database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2377439"/>
            <a:ext cx="5669280" cy="1170432"/>
          </a:xfrm>
          <a:prstGeom prst="rect">
            <a:avLst/>
          </a:prstGeom>
          <a:solidFill>
            <a:srgbClr val="2A17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7920" y="2377439"/>
            <a:ext cx="201168" cy="1170432"/>
          </a:xfrm>
          <a:prstGeom prst="rect">
            <a:avLst/>
          </a:prstGeom>
          <a:solidFill>
            <a:srgbClr val="E88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1968" y="2468879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2ECE0"/>
                </a:solidFill>
                <a:latin typeface="Calibri"/>
              </a:rPr>
              <a:t>JWT  +  bcrypt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1968" y="2971799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89A88"/>
                </a:solidFill>
                <a:latin typeface="Calibri"/>
              </a:rPr>
              <a:t>Stateless auth · password hashing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3703320"/>
            <a:ext cx="5669280" cy="1170432"/>
          </a:xfrm>
          <a:prstGeom prst="rect">
            <a:avLst/>
          </a:prstGeom>
          <a:solidFill>
            <a:srgbClr val="2A17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0040" y="3703320"/>
            <a:ext cx="201168" cy="1170432"/>
          </a:xfrm>
          <a:prstGeom prst="rect">
            <a:avLst/>
          </a:prstGeom>
          <a:solidFill>
            <a:srgbClr val="D4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3794759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2ECE0"/>
                </a:solidFill>
                <a:latin typeface="Calibri"/>
              </a:rPr>
              <a:t>MetaMask  (window.ethereum)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" y="429768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89A88"/>
                </a:solidFill>
                <a:latin typeface="Calibri"/>
              </a:rPr>
              <a:t>Ethereum payments — no extra lib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3703320"/>
            <a:ext cx="5669280" cy="1170432"/>
          </a:xfrm>
          <a:prstGeom prst="rect">
            <a:avLst/>
          </a:prstGeom>
          <a:solidFill>
            <a:srgbClr val="2A17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17920" y="3703320"/>
            <a:ext cx="201168" cy="1170432"/>
          </a:xfrm>
          <a:prstGeom prst="rect">
            <a:avLst/>
          </a:prstGeom>
          <a:solidFill>
            <a:srgbClr val="E88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01968" y="3794759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2ECE0"/>
                </a:solidFill>
                <a:latin typeface="Calibri"/>
              </a:rPr>
              <a:t>Discogs API  +  iTunes API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01968" y="429768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89A88"/>
                </a:solidFill>
                <a:latin typeface="Calibri"/>
              </a:rPr>
              <a:t>Album metadata · audio previews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5029200"/>
            <a:ext cx="5669280" cy="1170432"/>
          </a:xfrm>
          <a:prstGeom prst="rect">
            <a:avLst/>
          </a:prstGeom>
          <a:solidFill>
            <a:srgbClr val="2A17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20040" y="5029200"/>
            <a:ext cx="201168" cy="1170432"/>
          </a:xfrm>
          <a:prstGeom prst="rect">
            <a:avLst/>
          </a:prstGeom>
          <a:solidFill>
            <a:srgbClr val="D4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4088" y="51206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2ECE0"/>
                </a:solidFill>
                <a:latin typeface="Calibri"/>
              </a:rPr>
              <a:t>Resend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088" y="562356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89A88"/>
                </a:solidFill>
                <a:latin typeface="Calibri"/>
              </a:rPr>
              <a:t>Transactional email receipts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5029200"/>
            <a:ext cx="5669280" cy="1170432"/>
          </a:xfrm>
          <a:prstGeom prst="rect">
            <a:avLst/>
          </a:prstGeom>
          <a:solidFill>
            <a:srgbClr val="2A17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17920" y="5029200"/>
            <a:ext cx="201168" cy="1170432"/>
          </a:xfrm>
          <a:prstGeom prst="rect">
            <a:avLst/>
          </a:prstGeom>
          <a:solidFill>
            <a:srgbClr val="E88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01968" y="51206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2ECE0"/>
                </a:solidFill>
                <a:latin typeface="Calibri"/>
              </a:rPr>
              <a:t>PWA Manifest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01968" y="562356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89A88"/>
                </a:solidFill>
                <a:latin typeface="Calibri"/>
              </a:rPr>
              <a:t>Add to Home Screen on mobile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0E0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D4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11430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D4622A"/>
                </a:solidFill>
                <a:latin typeface="Calibri"/>
              </a:rPr>
              <a:t>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914400"/>
            <a:ext cx="11612880" cy="22860"/>
          </a:xfrm>
          <a:prstGeom prst="rect">
            <a:avLst/>
          </a:prstGeom>
          <a:solidFill>
            <a:srgbClr val="D4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51560"/>
            <a:ext cx="11521440" cy="512577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0E0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D4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11430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D4622A"/>
                </a:solidFill>
                <a:latin typeface="Calibri"/>
              </a:rPr>
              <a:t>Catalog &amp; Browsing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914400"/>
            <a:ext cx="11612880" cy="22860"/>
          </a:xfrm>
          <a:prstGeom prst="rect">
            <a:avLst/>
          </a:prstGeom>
          <a:solidFill>
            <a:srgbClr val="D4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earch_catalog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51560"/>
            <a:ext cx="7132320" cy="401193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80960" y="1143000"/>
            <a:ext cx="4297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600">
                <a:solidFill>
                  <a:srgbClr val="F2ECE0"/>
                </a:solidFill>
                <a:latin typeface="Calibri"/>
              </a:rPr>
              <a:t>▸  Real-time search — 250ms debounce</a:t>
            </a:r>
          </a:p>
          <a:p>
            <a:pPr>
              <a:spcAft>
                <a:spcPts val="500"/>
              </a:spcAft>
            </a:pPr>
            <a:r>
              <a:rPr sz="1600">
                <a:solidFill>
                  <a:srgbClr val="F2ECE0"/>
                </a:solidFill>
                <a:latin typeface="Calibri"/>
              </a:rPr>
              <a:t>▸  Genre filter fetched from database</a:t>
            </a:r>
          </a:p>
          <a:p>
            <a:pPr>
              <a:spcAft>
                <a:spcPts val="500"/>
              </a:spcAft>
            </a:pPr>
            <a:r>
              <a:rPr sz="1600">
                <a:solidFill>
                  <a:srgbClr val="F2ECE0"/>
                </a:solidFill>
                <a:latin typeface="Calibri"/>
              </a:rPr>
              <a:t>▸  8 sort options (price, year, stock…)</a:t>
            </a:r>
          </a:p>
          <a:p>
            <a:pPr>
              <a:spcAft>
                <a:spcPts val="500"/>
              </a:spcAft>
            </a:pPr>
            <a:r>
              <a:rPr sz="1600">
                <a:solidFill>
                  <a:srgbClr val="F2ECE0"/>
                </a:solidFill>
                <a:latin typeface="Calibri"/>
              </a:rPr>
              <a:t>▸  Pagination via Load more</a:t>
            </a:r>
          </a:p>
          <a:p>
            <a:pPr>
              <a:spcAft>
                <a:spcPts val="500"/>
              </a:spcAft>
            </a:pPr>
            <a:r>
              <a:rPr sz="1600">
                <a:solidFill>
                  <a:srgbClr val="F2ECE0"/>
                </a:solidFill>
                <a:latin typeface="Calibri"/>
              </a:rPr>
              <a:t>▸  Stock badges — Out of Stock / Last Copies</a:t>
            </a:r>
          </a:p>
          <a:p>
            <a:pPr>
              <a:spcAft>
                <a:spcPts val="500"/>
              </a:spcAft>
            </a:pPr>
            <a:r>
              <a:rPr sz="1600">
                <a:solidFill>
                  <a:srgbClr val="F2ECE0"/>
                </a:solidFill>
                <a:latin typeface="Calibri"/>
              </a:rPr>
              <a:t>▸  Skeleton loading cards</a:t>
            </a:r>
          </a:p>
          <a:p>
            <a:pPr>
              <a:spcAft>
                <a:spcPts val="500"/>
              </a:spcAft>
            </a:pPr>
            <a:r>
              <a:rPr sz="1600">
                <a:solidFill>
                  <a:srgbClr val="F2ECE0"/>
                </a:solidFill>
                <a:latin typeface="Calibri"/>
              </a:rPr>
              <a:t>▸  Recently viewed shelf (localStorage)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0E0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D4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11430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D4622A"/>
                </a:solidFill>
                <a:latin typeface="Calibri"/>
              </a:rPr>
              <a:t>Album Detail &amp; Audio Preview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914400"/>
            <a:ext cx="11612880" cy="22860"/>
          </a:xfrm>
          <a:prstGeom prst="rect">
            <a:avLst/>
          </a:prstGeom>
          <a:solidFill>
            <a:srgbClr val="D4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lbum_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51560"/>
            <a:ext cx="7132320" cy="403716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80960" y="1143000"/>
            <a:ext cx="4297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600">
                <a:solidFill>
                  <a:srgbClr val="F2ECE0"/>
                </a:solidFill>
                <a:latin typeface="Calibri"/>
              </a:rPr>
              <a:t>▸  Full metadata (label, country, format)</a:t>
            </a:r>
          </a:p>
          <a:p>
            <a:pPr>
              <a:spcAft>
                <a:spcPts val="500"/>
              </a:spcAft>
            </a:pPr>
            <a:r>
              <a:rPr sz="1600">
                <a:solidFill>
                  <a:srgbClr val="F2ECE0"/>
                </a:solidFill>
                <a:latin typeface="Calibri"/>
              </a:rPr>
              <a:t>▸  Tracklist with individual durations</a:t>
            </a:r>
          </a:p>
          <a:p>
            <a:pPr>
              <a:spcAft>
                <a:spcPts val="500"/>
              </a:spcAft>
            </a:pPr>
            <a:r>
              <a:rPr sz="1600">
                <a:solidFill>
                  <a:srgbClr val="F2ECE0"/>
                </a:solidFill>
                <a:latin typeface="Calibri"/>
              </a:rPr>
              <a:t>▸  Custom HTML5 audio player</a:t>
            </a:r>
          </a:p>
          <a:p>
            <a:pPr>
              <a:spcAft>
                <a:spcPts val="500"/>
              </a:spcAft>
            </a:pPr>
            <a:r>
              <a:rPr sz="1600">
                <a:solidFill>
                  <a:srgbClr val="F2ECE0"/>
                </a:solidFill>
                <a:latin typeface="Calibri"/>
              </a:rPr>
              <a:t>▸    · Play/pause, seek bar, buffering</a:t>
            </a:r>
          </a:p>
          <a:p>
            <a:pPr>
              <a:spcAft>
                <a:spcPts val="500"/>
              </a:spcAft>
            </a:pPr>
            <a:r>
              <a:rPr sz="1600">
                <a:solidFill>
                  <a:srgbClr val="F2ECE0"/>
                </a:solidFill>
                <a:latin typeface="Calibri"/>
              </a:rPr>
              <a:t>▸    · iTunes 30-second preview URL</a:t>
            </a:r>
          </a:p>
          <a:p>
            <a:pPr>
              <a:spcAft>
                <a:spcPts val="500"/>
              </a:spcAft>
            </a:pPr>
            <a:r>
              <a:rPr sz="1600">
                <a:solidFill>
                  <a:srgbClr val="F2ECE0"/>
                </a:solidFill>
                <a:latin typeface="Calibri"/>
              </a:rPr>
              <a:t>▸  Similar albums (same genre, 4 items)</a:t>
            </a:r>
          </a:p>
          <a:p>
            <a:pPr>
              <a:spcAft>
                <a:spcPts val="500"/>
              </a:spcAft>
            </a:pPr>
            <a:r>
              <a:rPr sz="1600">
                <a:solidFill>
                  <a:srgbClr val="F2ECE0"/>
                </a:solidFill>
                <a:latin typeface="Calibri"/>
              </a:rPr>
              <a:t>▸  Add to cart / wishlist toggle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0E0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D4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11430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D4622A"/>
                </a:solidFill>
                <a:latin typeface="Calibri"/>
              </a:rPr>
              <a:t>Checkout &amp; MetaMask Payment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914400"/>
            <a:ext cx="11612880" cy="22860"/>
          </a:xfrm>
          <a:prstGeom prst="rect">
            <a:avLst/>
          </a:prstGeom>
          <a:solidFill>
            <a:srgbClr val="D4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ayment_pro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51560"/>
            <a:ext cx="7132320" cy="401193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80960" y="1143000"/>
            <a:ext cx="4297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E88A50"/>
                </a:solidFill>
                <a:latin typeface="Calibri"/>
              </a:rPr>
              <a:t>3-step flow: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0" y="1600200"/>
            <a:ext cx="4297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>
                <a:solidFill>
                  <a:srgbClr val="F2ECE0"/>
                </a:solidFill>
                <a:latin typeface="Calibri"/>
              </a:rPr>
              <a:t>→  Cart  →  Shipping form  →  Payment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F2ECE0"/>
                </a:solidFill>
                <a:latin typeface="Calibri"/>
              </a:rPr>
              <a:t>→  Shipping address auto-filled from profile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F2ECE0"/>
                </a:solidFill>
                <a:latin typeface="Calibri"/>
              </a:rPr>
              <a:t>→  Chain switch to Sepolia (0xaa36a7)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F2ECE0"/>
                </a:solidFill>
                <a:latin typeface="Calibri"/>
              </a:rPr>
              <a:t>→  eth_sendTransaction via MetaMask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F2ECE0"/>
                </a:solidFill>
                <a:latin typeface="Calibri"/>
              </a:rPr>
              <a:t>→  ETH → Wei via BigInt (no float errors)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F2ECE0"/>
                </a:solidFill>
                <a:latin typeface="Calibri"/>
              </a:rPr>
              <a:t>→  TX hash + Etherscan link on confirm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F2ECE0"/>
                </a:solidFill>
                <a:latin typeface="Calibri"/>
              </a:rPr>
              <a:t>→  Order saved to DB  +  email receipt sent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F2ECE0"/>
                </a:solidFill>
                <a:latin typeface="Calibri"/>
              </a:rPr>
              <a:t>→  Cart cleared automatically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0E0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D4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11430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D4622A"/>
                </a:solidFill>
                <a:latin typeface="Calibri"/>
              </a:rPr>
              <a:t>Admin Panel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914400"/>
            <a:ext cx="11612880" cy="22860"/>
          </a:xfrm>
          <a:prstGeom prst="rect">
            <a:avLst/>
          </a:prstGeom>
          <a:solidFill>
            <a:srgbClr val="D4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dmin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51560"/>
            <a:ext cx="7132320" cy="401193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80960" y="1143000"/>
            <a:ext cx="4297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>
                <a:solidFill>
                  <a:srgbClr val="F2ECE0"/>
                </a:solidFill>
                <a:latin typeface="Calibri"/>
              </a:rPr>
              <a:t>▸  Dashboard: albums, orders, revenue, top sellers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F2ECE0"/>
                </a:solidFill>
                <a:latin typeface="Calibri"/>
              </a:rPr>
              <a:t>▸  Album CRUD — full form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F2ECE0"/>
                </a:solidFill>
                <a:latin typeface="Calibri"/>
              </a:rPr>
              <a:t>▸  Quick Discogs import (release ID → all fields)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F2ECE0"/>
                </a:solidFill>
                <a:latin typeface="Calibri"/>
              </a:rPr>
              <a:t>▸  iTunes audio preview auto-fill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F2ECE0"/>
                </a:solidFill>
                <a:latin typeface="Calibri"/>
              </a:rPr>
              <a:t>▸  Batch: discount %, featured flag, delete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F2ECE0"/>
                </a:solidFill>
                <a:latin typeface="Calibri"/>
              </a:rPr>
              <a:t>▸  CSV export of album catalog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F2ECE0"/>
                </a:solidFill>
                <a:latin typeface="Calibri"/>
              </a:rPr>
              <a:t>▸  Order search by TX hash + date range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F2ECE0"/>
                </a:solidFill>
                <a:latin typeface="Calibri"/>
              </a:rPr>
              <a:t>▸  Separate password auth (x-admin-token)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0E0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D4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11430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D4622A"/>
                </a:solidFill>
                <a:latin typeface="Calibri"/>
              </a:rPr>
              <a:t>Problems &amp; Solutions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914400"/>
            <a:ext cx="11612880" cy="22860"/>
          </a:xfrm>
          <a:prstGeom prst="rect">
            <a:avLst/>
          </a:prstGeom>
          <a:solidFill>
            <a:srgbClr val="D4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97280"/>
            <a:ext cx="11612880" cy="1627632"/>
          </a:xfrm>
          <a:prstGeom prst="rect">
            <a:avLst/>
          </a:prstGeom>
          <a:solidFill>
            <a:srgbClr val="2A17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097280"/>
            <a:ext cx="201168" cy="1627632"/>
          </a:xfrm>
          <a:prstGeom prst="rect">
            <a:avLst/>
          </a:prstGeom>
          <a:solidFill>
            <a:srgbClr val="D4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1887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D4622A"/>
                </a:solidFill>
                <a:latin typeface="Calibri"/>
              </a:rPr>
              <a:t>MongoDB SIGSEGV crash on development machine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627631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89A88"/>
                </a:solidFill>
                <a:latin typeface="Calibri"/>
              </a:rPr>
              <a:t>⚠  Native mongodb-bin 8.2.7 crashed at startup on Arch Linux.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5740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2ECE0"/>
                </a:solidFill>
                <a:latin typeface="Calibri"/>
              </a:rPr>
              <a:t>✓  Docker mongo:7 — stable DB, zero code changes needed.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2926080"/>
            <a:ext cx="11612880" cy="1627632"/>
          </a:xfrm>
          <a:prstGeom prst="rect">
            <a:avLst/>
          </a:prstGeom>
          <a:solidFill>
            <a:srgbClr val="2A17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" y="2926080"/>
            <a:ext cx="201168" cy="1627632"/>
          </a:xfrm>
          <a:prstGeom prst="rect">
            <a:avLst/>
          </a:prstGeom>
          <a:solidFill>
            <a:srgbClr val="D4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0175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D4622A"/>
                </a:solidFill>
                <a:latin typeface="Calibri"/>
              </a:rPr>
              <a:t>ETH → Wei floating-point precision loss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45643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89A88"/>
                </a:solidFill>
                <a:latin typeface="Calibri"/>
              </a:rPr>
              <a:t>⚠  amount * 1e18 produced rounding errors for values like 0.015 ETH.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88620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2ECE0"/>
                </a:solidFill>
                <a:latin typeface="Calibri"/>
              </a:rPr>
              <a:t>✓  BigInt arithmetic: split at decimal point, scale each part independently.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4754880"/>
            <a:ext cx="11612880" cy="1627632"/>
          </a:xfrm>
          <a:prstGeom prst="rect">
            <a:avLst/>
          </a:prstGeom>
          <a:solidFill>
            <a:srgbClr val="2A17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0040" y="4754880"/>
            <a:ext cx="201168" cy="1627632"/>
          </a:xfrm>
          <a:prstGeom prst="rect">
            <a:avLst/>
          </a:prstGeom>
          <a:solidFill>
            <a:srgbClr val="D4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8463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D4622A"/>
                </a:solidFill>
                <a:latin typeface="Calibri"/>
              </a:rPr>
              <a:t>ESLint: CartContext exported provider + hook in same file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28523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89A88"/>
                </a:solidFill>
                <a:latin typeface="Calibri"/>
              </a:rPr>
              <a:t>⚠  React fast-refresh plugin rejected mixed exports.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71500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2ECE0"/>
                </a:solidFill>
                <a:latin typeface="Calibri"/>
              </a:rPr>
              <a:t>✓  Split into useCart.js + cartContextValue.js — also improved SoC.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0E0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D4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11430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D4622A"/>
                </a:solidFill>
                <a:latin typeface="Calibri"/>
              </a:rPr>
              <a:t>Project Evolution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914400"/>
            <a:ext cx="11612880" cy="22860"/>
          </a:xfrm>
          <a:prstGeom prst="rect">
            <a:avLst/>
          </a:prstGeom>
          <a:solidFill>
            <a:srgbClr val="D4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3931920"/>
            <a:ext cx="11612880" cy="45720"/>
          </a:xfrm>
          <a:prstGeom prst="rect">
            <a:avLst/>
          </a:prstGeom>
          <a:solidFill>
            <a:srgbClr val="D4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05156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D4622A"/>
                </a:solidFill>
                <a:latin typeface="Calibri"/>
              </a:rPr>
              <a:t>UD1A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7373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E88A50"/>
                </a:solidFill>
                <a:latin typeface="Calibri"/>
              </a:rPr>
              <a:t>Initial Setup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67712"/>
            <a:ext cx="2514600" cy="18288"/>
          </a:xfrm>
          <a:prstGeom prst="rect">
            <a:avLst/>
          </a:prstGeom>
          <a:solidFill>
            <a:srgbClr val="2A17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377440"/>
            <a:ext cx="26060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>
                <a:solidFill>
                  <a:srgbClr val="A89A88"/>
                </a:solidFill>
                <a:latin typeface="Calibri"/>
              </a:rPr>
              <a:t>· React + mock catalog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A89A88"/>
                </a:solidFill>
                <a:latin typeface="Calibri"/>
              </a:rPr>
              <a:t>· Express skeleton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A89A88"/>
                </a:solidFill>
                <a:latin typeface="Calibri"/>
              </a:rPr>
              <a:t>· Design system defined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1577339" y="3785615"/>
            <a:ext cx="347472" cy="347472"/>
          </a:xfrm>
          <a:prstGeom prst="rect">
            <a:avLst/>
          </a:prstGeom>
          <a:solidFill>
            <a:srgbClr val="D4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42519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4622A"/>
                </a:solidFill>
                <a:latin typeface="Calibri"/>
              </a:rPr>
              <a:t>UD1A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105156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D4622A"/>
                </a:solidFill>
                <a:latin typeface="Calibri"/>
              </a:rPr>
              <a:t>UD1B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17373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E88A50"/>
                </a:solidFill>
                <a:latin typeface="Calibri"/>
              </a:rPr>
              <a:t>Backend + Cart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37560" y="2267712"/>
            <a:ext cx="2514600" cy="18288"/>
          </a:xfrm>
          <a:prstGeom prst="rect">
            <a:avLst/>
          </a:prstGeom>
          <a:solidFill>
            <a:srgbClr val="2A17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2377440"/>
            <a:ext cx="26060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>
                <a:solidFill>
                  <a:srgbClr val="A89A88"/>
                </a:solidFill>
                <a:latin typeface="Calibri"/>
              </a:rPr>
              <a:t>· MongoDB + Album model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A89A88"/>
                </a:solidFill>
                <a:latin typeface="Calibri"/>
              </a:rPr>
              <a:t>· REST API (albums list &amp; detail)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A89A88"/>
                </a:solidFill>
                <a:latin typeface="Calibri"/>
              </a:rPr>
              <a:t>· Cart with localStorage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57700" y="3785615"/>
            <a:ext cx="347472" cy="347472"/>
          </a:xfrm>
          <a:prstGeom prst="rect">
            <a:avLst/>
          </a:prstGeom>
          <a:solidFill>
            <a:srgbClr val="D4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0" y="42519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4622A"/>
                </a:solidFill>
                <a:latin typeface="Calibri"/>
              </a:rPr>
              <a:t>UD1B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0759" y="105156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D4622A"/>
                </a:solidFill>
                <a:latin typeface="Calibri"/>
              </a:rPr>
              <a:t>UD2A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80759" y="17373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E88A50"/>
                </a:solidFill>
                <a:latin typeface="Calibri"/>
              </a:rPr>
              <a:t>Wallet + Search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0" y="2267712"/>
            <a:ext cx="2514600" cy="18288"/>
          </a:xfrm>
          <a:prstGeom prst="rect">
            <a:avLst/>
          </a:prstGeom>
          <a:solidFill>
            <a:srgbClr val="2A17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0" y="2377440"/>
            <a:ext cx="26060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>
                <a:solidFill>
                  <a:srgbClr val="A89A88"/>
                </a:solidFill>
                <a:latin typeface="Calibri"/>
              </a:rPr>
              <a:t>· MetaMask connect in header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A89A88"/>
                </a:solidFill>
                <a:latin typeface="Calibri"/>
              </a:rPr>
              <a:t>· Cart quantity controls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A89A88"/>
                </a:solidFill>
                <a:latin typeface="Calibri"/>
              </a:rPr>
              <a:t>· Catalog search, filter, sort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38060" y="3785615"/>
            <a:ext cx="347472" cy="347472"/>
          </a:xfrm>
          <a:prstGeom prst="rect">
            <a:avLst/>
          </a:prstGeom>
          <a:solidFill>
            <a:srgbClr val="D4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80759" y="42519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4622A"/>
                </a:solidFill>
                <a:latin typeface="Calibri"/>
              </a:rPr>
              <a:t>UD2A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19" y="105156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D4622A"/>
                </a:solidFill>
                <a:latin typeface="Calibri"/>
              </a:rPr>
              <a:t>UD3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19" y="17373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E88A50"/>
                </a:solidFill>
                <a:latin typeface="Calibri"/>
              </a:rPr>
              <a:t>Complete App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98280" y="2267712"/>
            <a:ext cx="2514600" cy="18288"/>
          </a:xfrm>
          <a:prstGeom prst="rect">
            <a:avLst/>
          </a:prstGeom>
          <a:solidFill>
            <a:srgbClr val="2A17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98280" y="2377440"/>
            <a:ext cx="26060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>
                <a:solidFill>
                  <a:srgbClr val="A89A88"/>
                </a:solidFill>
                <a:latin typeface="Calibri"/>
              </a:rPr>
              <a:t>· Full payment flow + orders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A89A88"/>
                </a:solidFill>
                <a:latin typeface="Calibri"/>
              </a:rPr>
              <a:t>· JWT auth + admin panel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A89A88"/>
                </a:solidFill>
                <a:latin typeface="Calibri"/>
              </a:rPr>
              <a:t>· Email, wishlist, PWA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218419" y="3785615"/>
            <a:ext cx="347472" cy="347472"/>
          </a:xfrm>
          <a:prstGeom prst="rect">
            <a:avLst/>
          </a:prstGeom>
          <a:solidFill>
            <a:srgbClr val="D4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61119" y="42519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4622A"/>
                </a:solidFill>
                <a:latin typeface="Calibri"/>
              </a:rPr>
              <a:t>UD3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0E0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D4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11430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D4622A"/>
                </a:solidFill>
                <a:latin typeface="Calibri"/>
              </a:rPr>
              <a:t>What Was Achieved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914400"/>
            <a:ext cx="11612880" cy="22860"/>
          </a:xfrm>
          <a:prstGeom prst="rect">
            <a:avLst/>
          </a:prstGeom>
          <a:solidFill>
            <a:srgbClr val="D4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97280"/>
            <a:ext cx="2743200" cy="1371600"/>
          </a:xfrm>
          <a:prstGeom prst="rect">
            <a:avLst/>
          </a:prstGeom>
          <a:solidFill>
            <a:srgbClr val="2A17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14300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>
                <a:solidFill>
                  <a:srgbClr val="D4622A"/>
                </a:solidFill>
                <a:latin typeface="Calibri"/>
              </a:rPr>
              <a:t>111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92024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A89A88"/>
                </a:solidFill>
                <a:latin typeface="Calibri"/>
              </a:rPr>
              <a:t>features implemented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0" y="1097280"/>
            <a:ext cx="2743200" cy="1371600"/>
          </a:xfrm>
          <a:prstGeom prst="rect">
            <a:avLst/>
          </a:prstGeom>
          <a:solidFill>
            <a:srgbClr val="2A17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0" y="114300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>
                <a:solidFill>
                  <a:srgbClr val="D4622A"/>
                </a:solidFill>
                <a:latin typeface="Calibri"/>
              </a:rPr>
              <a:t>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192024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A89A88"/>
                </a:solidFill>
                <a:latin typeface="Calibri"/>
              </a:rPr>
              <a:t>API endpoints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80759" y="1097280"/>
            <a:ext cx="2743200" cy="1371600"/>
          </a:xfrm>
          <a:prstGeom prst="rect">
            <a:avLst/>
          </a:prstGeom>
          <a:solidFill>
            <a:srgbClr val="2A17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80759" y="114300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>
                <a:solidFill>
                  <a:srgbClr val="D4622A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0759" y="192024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A89A88"/>
                </a:solidFill>
                <a:latin typeface="Calibri"/>
              </a:rPr>
              <a:t>external APIs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61119" y="1097280"/>
            <a:ext cx="2743200" cy="1371600"/>
          </a:xfrm>
          <a:prstGeom prst="rect">
            <a:avLst/>
          </a:prstGeom>
          <a:solidFill>
            <a:srgbClr val="2A17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19" y="114300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>
                <a:solidFill>
                  <a:srgbClr val="D4622A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19" y="192024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A89A88"/>
                </a:solidFill>
                <a:latin typeface="Calibri"/>
              </a:rPr>
              <a:t>dev phases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" y="2697480"/>
            <a:ext cx="5669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88A50"/>
                </a:solidFill>
                <a:latin typeface="Calibri"/>
              </a:rPr>
              <a:t>Delivered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" y="3182112"/>
            <a:ext cx="56692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600">
                <a:solidFill>
                  <a:srgbClr val="F2ECE0"/>
                </a:solidFill>
                <a:latin typeface="Calibri"/>
              </a:rPr>
              <a:t>▸  Full e-commerce flow: browse → cart → crypto payment</a:t>
            </a:r>
          </a:p>
          <a:p>
            <a:pPr>
              <a:spcAft>
                <a:spcPts val="500"/>
              </a:spcAft>
            </a:pPr>
            <a:r>
              <a:rPr sz="1600">
                <a:solidFill>
                  <a:srgbClr val="F2ECE0"/>
                </a:solidFill>
                <a:latin typeface="Calibri"/>
              </a:rPr>
              <a:t>▸  Ethereum payments via MetaMask on Sepolia testnet</a:t>
            </a:r>
          </a:p>
          <a:p>
            <a:pPr>
              <a:spcAft>
                <a:spcPts val="500"/>
              </a:spcAft>
            </a:pPr>
            <a:r>
              <a:rPr sz="1600">
                <a:solidFill>
                  <a:srgbClr val="F2ECE0"/>
                </a:solidFill>
                <a:latin typeface="Calibri"/>
              </a:rPr>
              <a:t>▸  Production-grade admin panel with Discogs import</a:t>
            </a:r>
          </a:p>
          <a:p>
            <a:pPr>
              <a:spcAft>
                <a:spcPts val="500"/>
              </a:spcAft>
            </a:pPr>
            <a:r>
              <a:rPr sz="1600">
                <a:solidFill>
                  <a:srgbClr val="F2ECE0"/>
                </a:solidFill>
                <a:latin typeface="Calibri"/>
              </a:rPr>
              <a:t>▸  JWT auth, order history, email receipts via Resend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72200" y="2697480"/>
            <a:ext cx="5669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88A50"/>
                </a:solidFill>
                <a:latin typeface="Calibri"/>
              </a:rPr>
              <a:t>Future improvements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2200" y="3182112"/>
            <a:ext cx="56692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600">
                <a:solidFill>
                  <a:srgbClr val="A89A88"/>
                </a:solidFill>
                <a:latin typeface="Calibri"/>
              </a:rPr>
              <a:t>▸  Solidity escrow contract (buyer protection)</a:t>
            </a:r>
          </a:p>
          <a:p>
            <a:pPr>
              <a:spcAft>
                <a:spcPts val="500"/>
              </a:spcAft>
            </a:pPr>
            <a:r>
              <a:rPr sz="1600">
                <a:solidFill>
                  <a:srgbClr val="A89A88"/>
                </a:solidFill>
                <a:latin typeface="Calibri"/>
              </a:rPr>
              <a:t>▸  Stock reservation during checkout</a:t>
            </a:r>
          </a:p>
          <a:p>
            <a:pPr>
              <a:spcAft>
                <a:spcPts val="500"/>
              </a:spcAft>
            </a:pPr>
            <a:r>
              <a:rPr sz="1600">
                <a:solidFill>
                  <a:srgbClr val="A89A88"/>
                </a:solidFill>
                <a:latin typeface="Calibri"/>
              </a:rPr>
              <a:t>▸  Image upload via Cloudinary</a:t>
            </a:r>
          </a:p>
          <a:p>
            <a:pPr>
              <a:spcAft>
                <a:spcPts val="500"/>
              </a:spcAft>
            </a:pPr>
            <a:r>
              <a:rPr sz="1600">
                <a:solidFill>
                  <a:srgbClr val="A89A88"/>
                </a:solidFill>
                <a:latin typeface="Calibri"/>
              </a:rPr>
              <a:t>▸  Automated test suite — Vitest + Jest + Supertest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0E0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D4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463040"/>
            <a:ext cx="91440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0" b="1" i="0">
                <a:solidFill>
                  <a:srgbClr val="F2ECE0"/>
                </a:solidFill>
                <a:latin typeface="Calibri"/>
              </a:rPr>
              <a:t>Thank you.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3200400"/>
            <a:ext cx="7772400" cy="22860"/>
          </a:xfrm>
          <a:prstGeom prst="rect">
            <a:avLst/>
          </a:prstGeom>
          <a:solidFill>
            <a:srgbClr val="D4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3383280"/>
            <a:ext cx="7315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0" i="0">
                <a:solidFill>
                  <a:srgbClr val="D4622A"/>
                </a:solidFill>
                <a:latin typeface="Calibri"/>
              </a:rPr>
              <a:t>Questions?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46634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A89A88"/>
                </a:solidFill>
                <a:latin typeface="Calibri"/>
              </a:rPr>
              <a:t>github.com/Castor909/projecte-intermodular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5212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89A88"/>
                </a:solidFill>
                <a:latin typeface="Calibri"/>
              </a:rPr>
              <a:t>Stepan Andreev  ·  Projecte Intermodular UD3  ·  June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